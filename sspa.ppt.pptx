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0" r:id="rId1"/>
  </p:sldMasterIdLst>
  <p:notesMasterIdLst>
    <p:notesMasterId r:id="rId15"/>
  </p:notesMasterIdLst>
  <p:sldIdLst>
    <p:sldId id="256" r:id="rId2"/>
    <p:sldId id="257" r:id="rId3"/>
    <p:sldId id="259" r:id="rId4"/>
    <p:sldId id="261" r:id="rId5"/>
    <p:sldId id="280" r:id="rId6"/>
    <p:sldId id="266" r:id="rId7"/>
    <p:sldId id="281" r:id="rId8"/>
    <p:sldId id="268" r:id="rId9"/>
    <p:sldId id="274" r:id="rId10"/>
    <p:sldId id="283" r:id="rId11"/>
    <p:sldId id="284" r:id="rId12"/>
    <p:sldId id="278" r:id="rId13"/>
    <p:sldId id="27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66E69D-A833-4A0A-99F8-BD473F658C71}"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318EB-6631-4458-8EFE-501A41FA65D4}" type="slidenum">
              <a:rPr lang="en-IN" smtClean="0"/>
              <a:t>‹#›</a:t>
            </a:fld>
            <a:endParaRPr lang="en-IN"/>
          </a:p>
        </p:txBody>
      </p:sp>
    </p:spTree>
    <p:extLst>
      <p:ext uri="{BB962C8B-B14F-4D97-AF65-F5344CB8AC3E}">
        <p14:creationId xmlns:p14="http://schemas.microsoft.com/office/powerpoint/2010/main" val="4031612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318EB-6631-4458-8EFE-501A41FA65D4}" type="slidenum">
              <a:rPr lang="en-IN" smtClean="0"/>
              <a:t>8</a:t>
            </a:fld>
            <a:endParaRPr lang="en-IN"/>
          </a:p>
        </p:txBody>
      </p:sp>
    </p:spTree>
    <p:extLst>
      <p:ext uri="{BB962C8B-B14F-4D97-AF65-F5344CB8AC3E}">
        <p14:creationId xmlns:p14="http://schemas.microsoft.com/office/powerpoint/2010/main" val="775477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318EB-6631-4458-8EFE-501A41FA65D4}" type="slidenum">
              <a:rPr lang="en-IN" smtClean="0"/>
              <a:t>9</a:t>
            </a:fld>
            <a:endParaRPr lang="en-IN"/>
          </a:p>
        </p:txBody>
      </p:sp>
    </p:spTree>
    <p:extLst>
      <p:ext uri="{BB962C8B-B14F-4D97-AF65-F5344CB8AC3E}">
        <p14:creationId xmlns:p14="http://schemas.microsoft.com/office/powerpoint/2010/main" val="1131329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318EB-6631-4458-8EFE-501A41FA65D4}" type="slidenum">
              <a:rPr lang="en-IN" smtClean="0"/>
              <a:t>12</a:t>
            </a:fld>
            <a:endParaRPr lang="en-IN"/>
          </a:p>
        </p:txBody>
      </p:sp>
    </p:spTree>
    <p:extLst>
      <p:ext uri="{BB962C8B-B14F-4D97-AF65-F5344CB8AC3E}">
        <p14:creationId xmlns:p14="http://schemas.microsoft.com/office/powerpoint/2010/main" val="3347001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718051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360030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9643667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59374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83636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80296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885561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34819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845454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5935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599171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2082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9699861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49597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602484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005891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881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4254561"/>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2"/>
          <a:stretch>
            <a:fillRect/>
          </a:stretch>
        </p:blipFill>
        <p:spPr>
          <a:xfrm>
            <a:off x="504598" y="801575"/>
            <a:ext cx="1573326" cy="1526998"/>
          </a:xfrm>
          <a:prstGeom prst="rect">
            <a:avLst/>
          </a:prstGeom>
          <a:noFill/>
          <a:ln w="9525">
            <a:noFill/>
          </a:ln>
        </p:spPr>
      </p:pic>
      <p:sp>
        <p:nvSpPr>
          <p:cNvPr id="1027" name="Rectangle 2"/>
          <p:cNvSpPr/>
          <p:nvPr/>
        </p:nvSpPr>
        <p:spPr>
          <a:xfrm>
            <a:off x="2252096" y="801575"/>
            <a:ext cx="8731590" cy="1927451"/>
          </a:xfrm>
          <a:prstGeom prst="rect">
            <a:avLst/>
          </a:prstGeom>
          <a:noFill/>
          <a:ln w="9525">
            <a:noFill/>
          </a:ln>
        </p:spPr>
        <p:txBody>
          <a:bodyPr lIns="0" tIns="0" rIns="0" bIns="0"/>
          <a:lstStyle/>
          <a:p>
            <a:pPr eaLnBrk="1" hangingPunct="1">
              <a:lnSpc>
                <a:spcPts val="2525"/>
              </a:lnSpc>
              <a:spcAft>
                <a:spcPts val="625"/>
              </a:spcAft>
              <a:buNone/>
            </a:pPr>
            <a:r>
              <a:rPr sz="2000" b="1" dirty="0">
                <a:latin typeface="Times New Roman" panose="02020603050405020304" pitchFamily="18" charset="0"/>
              </a:rPr>
              <a:t>JAWAHARLAL NEHRU TECHNOLOGICAL UNIVERSITY HYDERABAD</a:t>
            </a:r>
          </a:p>
          <a:p>
            <a:pPr algn="ctr" eaLnBrk="1" hangingPunct="1">
              <a:spcAft>
                <a:spcPts val="625"/>
              </a:spcAft>
              <a:buNone/>
            </a:pPr>
            <a:r>
              <a:rPr sz="2000" b="1" dirty="0">
                <a:latin typeface="Times New Roman" panose="02020603050405020304" pitchFamily="18" charset="0"/>
              </a:rPr>
              <a:t>UNIVERSITY COLLEGE OF ENGINEERING MANTHANI</a:t>
            </a:r>
          </a:p>
          <a:p>
            <a:pPr algn="ctr" eaLnBrk="1" hangingPunct="1">
              <a:spcAft>
                <a:spcPts val="2725"/>
              </a:spcAft>
              <a:buNone/>
            </a:pPr>
            <a:r>
              <a:rPr sz="2000" b="1" dirty="0">
                <a:latin typeface="Times New Roman" panose="02020603050405020304" pitchFamily="18" charset="0"/>
              </a:rPr>
              <a:t>Centenary Colony(Po), Pannur(Vill), Ramagiri(Mdl), Peddapalli, Telangana - 505212, India</a:t>
            </a:r>
          </a:p>
        </p:txBody>
      </p:sp>
      <p:sp>
        <p:nvSpPr>
          <p:cNvPr id="1029" name="Rectangle 4"/>
          <p:cNvSpPr/>
          <p:nvPr/>
        </p:nvSpPr>
        <p:spPr>
          <a:xfrm>
            <a:off x="2431371" y="3655855"/>
            <a:ext cx="6738938" cy="1770063"/>
          </a:xfrm>
          <a:prstGeom prst="rect">
            <a:avLst/>
          </a:prstGeom>
          <a:noFill/>
          <a:ln w="9525">
            <a:noFill/>
          </a:ln>
        </p:spPr>
        <p:txBody>
          <a:bodyPr lIns="0" tIns="0" rIns="0" bIns="0"/>
          <a:lstStyle/>
          <a:p>
            <a:pPr algn="ctr" eaLnBrk="1" hangingPunct="1">
              <a:spcBef>
                <a:spcPts val="3150"/>
              </a:spcBef>
              <a:spcAft>
                <a:spcPts val="1675"/>
              </a:spcAft>
              <a:buNone/>
            </a:pPr>
            <a:r>
              <a:rPr lang="en-US" sz="3600" b="1" dirty="0">
                <a:solidFill>
                  <a:srgbClr val="7030A0"/>
                </a:solidFill>
                <a:latin typeface="Times New Roman" panose="02020603050405020304" pitchFamily="18" charset="0"/>
              </a:rPr>
              <a:t>SUPERSTORE PROFIT ANALYSIS</a:t>
            </a:r>
            <a:endParaRPr sz="3600" b="1" dirty="0">
              <a:solidFill>
                <a:srgbClr val="7030A0"/>
              </a:solidFill>
              <a:latin typeface="Times New Roman" panose="02020603050405020304" pitchFamily="18" charset="0"/>
            </a:endParaRPr>
          </a:p>
        </p:txBody>
      </p:sp>
      <p:sp>
        <p:nvSpPr>
          <p:cNvPr id="1030" name="Rectangle 5"/>
          <p:cNvSpPr/>
          <p:nvPr/>
        </p:nvSpPr>
        <p:spPr>
          <a:xfrm>
            <a:off x="6755130" y="5164137"/>
            <a:ext cx="4430395" cy="1990725"/>
          </a:xfrm>
          <a:prstGeom prst="rect">
            <a:avLst/>
          </a:prstGeom>
          <a:noFill/>
          <a:ln w="9525">
            <a:noFill/>
          </a:ln>
        </p:spPr>
        <p:txBody>
          <a:bodyPr lIns="0" tIns="0" rIns="0" bIns="0"/>
          <a:lstStyle/>
          <a:p>
            <a:pPr algn="just" eaLnBrk="1" hangingPunct="1">
              <a:spcBef>
                <a:spcPts val="1265"/>
              </a:spcBef>
              <a:spcAft>
                <a:spcPts val="1265"/>
              </a:spcAft>
              <a:buNone/>
            </a:pPr>
            <a:r>
              <a:rPr lang="en-US" sz="2000" b="1" dirty="0">
                <a:latin typeface="Times New Roman" panose="02020603050405020304" pitchFamily="18" charset="0"/>
              </a:rPr>
              <a:t>PRESENTED BY </a:t>
            </a:r>
            <a:r>
              <a:rPr sz="2000" b="1" dirty="0">
                <a:latin typeface="Times New Roman" panose="02020603050405020304" pitchFamily="18" charset="0"/>
              </a:rPr>
              <a:t>:-</a:t>
            </a:r>
          </a:p>
          <a:p>
            <a:pPr algn="just" eaLnBrk="1" hangingPunct="1">
              <a:lnSpc>
                <a:spcPts val="1825"/>
              </a:lnSpc>
              <a:buNone/>
            </a:pPr>
            <a:r>
              <a:rPr lang="en-US" sz="2000" b="1" dirty="0">
                <a:latin typeface="Times New Roman" panose="02020603050405020304" pitchFamily="18" charset="0"/>
              </a:rPr>
              <a:t>         </a:t>
            </a:r>
            <a:r>
              <a:rPr sz="2000" b="1" dirty="0">
                <a:latin typeface="Times New Roman" panose="02020603050405020304" pitchFamily="18" charset="0"/>
              </a:rPr>
              <a:t>N. RISHIVARUN  </a:t>
            </a:r>
            <a:r>
              <a:rPr lang="en-US" sz="2000" b="1" dirty="0">
                <a:latin typeface="Times New Roman" panose="02020603050405020304" pitchFamily="18" charset="0"/>
              </a:rPr>
              <a:t>-  </a:t>
            </a:r>
            <a:r>
              <a:rPr sz="2000" b="1" dirty="0">
                <a:latin typeface="Times New Roman" panose="02020603050405020304" pitchFamily="18" charset="0"/>
              </a:rPr>
              <a:t>22VD1A6628</a:t>
            </a:r>
          </a:p>
          <a:p>
            <a:pPr algn="just" eaLnBrk="1" hangingPunct="1">
              <a:lnSpc>
                <a:spcPts val="1825"/>
              </a:lnSpc>
              <a:buNone/>
            </a:pPr>
            <a:endParaRPr sz="2000" b="1" dirty="0">
              <a:latin typeface="Times New Roman" panose="02020603050405020304" pitchFamily="18" charset="0"/>
            </a:endParaRPr>
          </a:p>
          <a:p>
            <a:pPr algn="just" eaLnBrk="1" hangingPunct="1">
              <a:lnSpc>
                <a:spcPts val="1825"/>
              </a:lnSpc>
              <a:buNone/>
            </a:pPr>
            <a:endParaRPr sz="2000" b="1" dirty="0">
              <a:latin typeface="Times New Roman" panose="02020603050405020304" pitchFamily="18" charset="0"/>
            </a:endParaRPr>
          </a:p>
        </p:txBody>
      </p:sp>
      <p:sp>
        <p:nvSpPr>
          <p:cNvPr id="1032" name="Rectangle 7"/>
          <p:cNvSpPr/>
          <p:nvPr/>
        </p:nvSpPr>
        <p:spPr>
          <a:xfrm>
            <a:off x="9345613" y="6016625"/>
            <a:ext cx="889000" cy="142875"/>
          </a:xfrm>
          <a:prstGeom prst="rect">
            <a:avLst/>
          </a:prstGeom>
          <a:noFill/>
          <a:ln w="9525">
            <a:noFill/>
          </a:ln>
        </p:spPr>
        <p:txBody>
          <a:bodyPr wrap="none" lIns="0" tIns="0" rIns="0" bIns="0"/>
          <a:lstStyle/>
          <a:p>
            <a:pPr eaLnBrk="1" hangingPunct="1">
              <a:buNone/>
            </a:pPr>
            <a:endParaRPr sz="1100" b="1" dirty="0">
              <a:latin typeface="Times New Roman" panose="02020603050405020304" pitchFamily="18" charset="0"/>
            </a:endParaRPr>
          </a:p>
        </p:txBody>
      </p:sp>
      <p:sp>
        <p:nvSpPr>
          <p:cNvPr id="1033" name="Rectangle 8"/>
          <p:cNvSpPr/>
          <p:nvPr/>
        </p:nvSpPr>
        <p:spPr>
          <a:xfrm>
            <a:off x="11185525" y="6467475"/>
            <a:ext cx="95250" cy="134938"/>
          </a:xfrm>
          <a:prstGeom prst="rect">
            <a:avLst/>
          </a:prstGeom>
          <a:noFill/>
          <a:ln w="9525">
            <a:noFill/>
          </a:ln>
        </p:spPr>
        <p:txBody>
          <a:bodyPr wrap="none" lIns="0" tIns="0" rIns="0" bIns="0"/>
          <a:lstStyle/>
          <a:p>
            <a:pPr eaLnBrk="1" hangingPunct="1">
              <a:buNone/>
            </a:pPr>
            <a:r>
              <a:rPr sz="1000" b="1" dirty="0">
                <a:solidFill>
                  <a:srgbClr val="898989"/>
                </a:solidFill>
                <a:latin typeface="Tahoma" panose="020B0604030504040204" pitchFamily="34" charset="0"/>
              </a:rPr>
              <a:t>1</a:t>
            </a:r>
          </a:p>
        </p:txBody>
      </p:sp>
      <p:sp>
        <p:nvSpPr>
          <p:cNvPr id="2" name="TextBox 1">
            <a:extLst>
              <a:ext uri="{FF2B5EF4-FFF2-40B4-BE49-F238E27FC236}">
                <a16:creationId xmlns:a16="http://schemas.microsoft.com/office/drawing/2014/main" id="{070A878D-F7AE-4FBA-9F2C-D72392E73060}"/>
              </a:ext>
            </a:extLst>
          </p:cNvPr>
          <p:cNvSpPr txBox="1"/>
          <p:nvPr/>
        </p:nvSpPr>
        <p:spPr>
          <a:xfrm>
            <a:off x="1936410" y="2729026"/>
            <a:ext cx="8479290" cy="769441"/>
          </a:xfrm>
          <a:prstGeom prst="rect">
            <a:avLst/>
          </a:prstGeom>
          <a:noFill/>
        </p:spPr>
        <p:txBody>
          <a:bodyPr wrap="square" rtlCol="0">
            <a:spAutoFit/>
          </a:bodyPr>
          <a:lstStyle/>
          <a:p>
            <a:r>
              <a:rPr lang="en-US" sz="4400" b="1" dirty="0">
                <a:solidFill>
                  <a:srgbClr val="FF0000"/>
                </a:solidFill>
                <a:latin typeface="Times New Roman" panose="02020603050405020304" pitchFamily="18" charset="0"/>
                <a:cs typeface="Times New Roman" panose="02020603050405020304" pitchFamily="18" charset="0"/>
              </a:rPr>
              <a:t>TCS INDUSTRIAL PROJECT</a:t>
            </a:r>
            <a:endParaRPr lang="en-IN" sz="4400" b="1" dirty="0">
              <a:solidFill>
                <a:srgbClr val="FF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534885" y="206829"/>
            <a:ext cx="4898571" cy="6128658"/>
          </a:xfrm>
          <a:prstGeom prst="rect">
            <a:avLst/>
          </a:prstGeom>
        </p:spPr>
        <p:txBody>
          <a:bodyPr lIns="0" tIns="0" rIns="0" bIns="0">
            <a:noAutofit/>
          </a:bodyPr>
          <a:lstStyle/>
          <a:p>
            <a:pPr eaLnBrk="1" hangingPunct="1">
              <a:spcAft>
                <a:spcPts val="1050"/>
              </a:spcAft>
              <a:buNone/>
            </a:pPr>
            <a:r>
              <a:rPr sz="3600" b="1" dirty="0">
                <a:solidFill>
                  <a:srgbClr val="C55A11"/>
                </a:solidFill>
                <a:latin typeface="Times New Roman" panose="02020603050405020304" pitchFamily="18" charset="0"/>
              </a:rPr>
              <a:t>Contents</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Introduction </a:t>
            </a:r>
            <a:endParaRPr lang="en-US"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lang="en-US" sz="2400" dirty="0">
                <a:latin typeface="Times New Roman" panose="02020603050405020304" pitchFamily="18" charset="0"/>
              </a:rPr>
              <a:t>Existing system</a:t>
            </a:r>
          </a:p>
          <a:p>
            <a:pPr marL="342900" indent="-342900" eaLnBrk="1" hangingPunct="1">
              <a:lnSpc>
                <a:spcPts val="4540"/>
              </a:lnSpc>
              <a:buFont typeface="Wingdings" panose="05000000000000000000" charset="0"/>
              <a:buChar char="Ø"/>
            </a:pPr>
            <a:r>
              <a:rPr lang="en-US" sz="2400" dirty="0">
                <a:latin typeface="Times New Roman" panose="02020603050405020304" pitchFamily="18" charset="0"/>
              </a:rPr>
              <a:t>Limitations of Existing system</a:t>
            </a:r>
            <a:endParaRPr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 Problem Statement</a:t>
            </a:r>
            <a:endParaRPr lang="en-US"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lang="en-US" sz="2400" dirty="0">
                <a:latin typeface="Times New Roman" panose="02020603050405020304" pitchFamily="18" charset="0"/>
              </a:rPr>
              <a:t>Proposed system</a:t>
            </a:r>
            <a:endParaRPr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System Requirement Specificatio</a:t>
            </a:r>
            <a:r>
              <a:rPr lang="en-US" sz="2400" dirty="0">
                <a:latin typeface="Times New Roman" panose="02020603050405020304" pitchFamily="18" charset="0"/>
              </a:rPr>
              <a:t>n</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System Design </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 Implementation </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Accuracy </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Conclusion</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p:nvPr/>
        </p:nvSpPr>
        <p:spPr>
          <a:xfrm>
            <a:off x="914400" y="877887"/>
            <a:ext cx="2770188" cy="387350"/>
          </a:xfrm>
          <a:prstGeom prst="rect">
            <a:avLst/>
          </a:prstGeom>
          <a:noFill/>
          <a:ln w="9525">
            <a:noFill/>
          </a:ln>
        </p:spPr>
        <p:txBody>
          <a:bodyPr wrap="none" lIns="0" tIns="0" rIns="0" bIns="0"/>
          <a:lstStyle/>
          <a:p>
            <a:pPr eaLnBrk="1" hangingPunct="1">
              <a:spcAft>
                <a:spcPts val="5875"/>
              </a:spcAft>
              <a:buNone/>
            </a:pPr>
            <a:r>
              <a:rPr sz="3600" b="1" dirty="0">
                <a:solidFill>
                  <a:srgbClr val="C55A11"/>
                </a:solidFill>
                <a:latin typeface="Times New Roman" panose="02020603050405020304" pitchFamily="18" charset="0"/>
              </a:rPr>
              <a:t>Introduction</a:t>
            </a:r>
            <a:endParaRPr sz="4000" b="1" dirty="0">
              <a:solidFill>
                <a:srgbClr val="C55A11"/>
              </a:solidFill>
              <a:latin typeface="Times New Roman" panose="02020603050405020304" pitchFamily="18" charset="0"/>
            </a:endParaRPr>
          </a:p>
        </p:txBody>
      </p:sp>
      <p:sp>
        <p:nvSpPr>
          <p:cNvPr id="4099" name="Rectangle 2"/>
          <p:cNvSpPr/>
          <p:nvPr/>
        </p:nvSpPr>
        <p:spPr>
          <a:xfrm>
            <a:off x="615950" y="1885950"/>
            <a:ext cx="10826750" cy="4160520"/>
          </a:xfrm>
          <a:prstGeom prst="rect">
            <a:avLst/>
          </a:prstGeom>
          <a:noFill/>
          <a:ln w="9525">
            <a:noFill/>
          </a:ln>
        </p:spPr>
        <p:txBody>
          <a:bodyPr lIns="0" tIns="0" rIns="0" bIns="0"/>
          <a:lstStyle/>
          <a:p>
            <a:pPr eaLnBrk="1" hangingPunct="1">
              <a:lnSpc>
                <a:spcPts val="5015"/>
              </a:lnSpc>
              <a:spcBef>
                <a:spcPts val="5875"/>
              </a:spcBef>
              <a:spcAft>
                <a:spcPts val="1475"/>
              </a:spcAft>
              <a:buNone/>
            </a:pPr>
            <a:endParaRPr sz="2200" dirty="0">
              <a:solidFill>
                <a:srgbClr val="3B3938"/>
              </a:solidFill>
              <a:latin typeface="Times New Roman" panose="02020603050405020304" pitchFamily="18" charset="0"/>
            </a:endParaRPr>
          </a:p>
        </p:txBody>
      </p:sp>
      <p:sp>
        <p:nvSpPr>
          <p:cNvPr id="4" name="Rectangle 3"/>
          <p:cNvSpPr/>
          <p:nvPr/>
        </p:nvSpPr>
        <p:spPr>
          <a:xfrm>
            <a:off x="695325" y="3989388"/>
            <a:ext cx="10871200" cy="1603375"/>
          </a:xfrm>
          <a:prstGeom prst="rect">
            <a:avLst/>
          </a:prstGeom>
        </p:spPr>
        <p:txBody>
          <a:bodyPr lIns="0" tIns="0" rIns="0" bIns="0">
            <a:noAutofit/>
          </a:bodyPr>
          <a:lstStyle/>
          <a:p>
            <a:pPr marL="0" marR="0" lvl="0" indent="0" algn="l" defTabSz="914400" rtl="0" eaLnBrk="1" fontAlgn="auto" latinLnBrk="0" hangingPunct="1">
              <a:lnSpc>
                <a:spcPts val="5065"/>
              </a:lnSpc>
              <a:spcBef>
                <a:spcPts val="1470"/>
              </a:spcBef>
              <a:spcAft>
                <a:spcPts val="0"/>
              </a:spcAft>
              <a:buClrTx/>
              <a:buSzTx/>
              <a:buFontTx/>
              <a:buNone/>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a:ea typeface="+mn-ea"/>
              <a:cs typeface="+mn-cs"/>
            </a:endParaRPr>
          </a:p>
        </p:txBody>
      </p:sp>
      <p:sp>
        <p:nvSpPr>
          <p:cNvPr id="2" name="TextBox 1">
            <a:extLst>
              <a:ext uri="{FF2B5EF4-FFF2-40B4-BE49-F238E27FC236}">
                <a16:creationId xmlns:a16="http://schemas.microsoft.com/office/drawing/2014/main" id="{54ACC19F-2435-4E23-8921-C66867BB24AF}"/>
              </a:ext>
            </a:extLst>
          </p:cNvPr>
          <p:cNvSpPr txBox="1"/>
          <p:nvPr/>
        </p:nvSpPr>
        <p:spPr>
          <a:xfrm>
            <a:off x="914400" y="2012187"/>
            <a:ext cx="9383485" cy="3046988"/>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Retail businesses generate large volumes of transactional data.</a:t>
            </a:r>
          </a:p>
          <a:p>
            <a:endParaRPr lang="en-US" sz="24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 Analyzing this data allows businesses to make informed decisions regarding inventory, customer preferences, and sales strategies.</a:t>
            </a:r>
          </a:p>
          <a:p>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This project focuses on analyzing the Superstore dataset to uncover insights on sales trends, profit margins, regional performance, and customer behavior using Python and SQL.</a:t>
            </a:r>
            <a:endParaRPr lang="en-IN"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506639"/>
            <a:ext cx="10972800" cy="4792663"/>
          </a:xfrm>
          <a:prstGeom prst="rect">
            <a:avLst/>
          </a:prstGeom>
        </p:spPr>
        <p:txBody>
          <a:bodyPr lIns="0" tIns="0" rIns="0" bIns="0">
            <a:noAutofit/>
          </a:bodyPr>
          <a:lstStyle/>
          <a:p>
            <a:pPr algn="just"/>
            <a:r>
              <a:rPr lang="en-US" sz="3600" b="1" dirty="0">
                <a:solidFill>
                  <a:schemeClr val="accent4"/>
                </a:solidFill>
                <a:latin typeface="Times New Roman" panose="02020603050405020304" pitchFamily="18" charset="0"/>
                <a:cs typeface="Times New Roman" panose="02020603050405020304" pitchFamily="18" charset="0"/>
              </a:rPr>
              <a:t>Scope of the Project</a:t>
            </a:r>
            <a:endParaRPr lang="en-US" sz="2800" b="1" dirty="0">
              <a:solidFill>
                <a:schemeClr val="accent4"/>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aims to provide a comprehensive analysis of retail sales data from the Superstore dataset to support strategic business decisions. The scope includes:</a:t>
            </a:r>
          </a:p>
          <a:p>
            <a:pPr marL="342900" indent="-342900"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Data Preparation</a:t>
            </a:r>
            <a:r>
              <a:rPr lang="en-US" sz="2400" dirty="0">
                <a:latin typeface="Times New Roman" panose="02020603050405020304" pitchFamily="18" charset="0"/>
                <a:cs typeface="Times New Roman" panose="02020603050405020304" pitchFamily="18" charset="0"/>
              </a:rPr>
              <a:t>: Cleaning and transforming raw CSV data for analysis.</a:t>
            </a:r>
          </a:p>
          <a:p>
            <a:pPr marL="342900" indent="-342900"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Database Integration</a:t>
            </a:r>
            <a:r>
              <a:rPr lang="en-US" sz="2400" dirty="0">
                <a:latin typeface="Times New Roman" panose="02020603050405020304" pitchFamily="18" charset="0"/>
                <a:cs typeface="Times New Roman" panose="02020603050405020304" pitchFamily="18" charset="0"/>
              </a:rPr>
              <a:t>: Designing and populating a structured SQL database to enable efficient querying.</a:t>
            </a:r>
          </a:p>
          <a:p>
            <a:pPr marL="342900" indent="-342900"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Sales &amp; Profit Analysis</a:t>
            </a:r>
            <a:r>
              <a:rPr lang="en-US" sz="2400" dirty="0">
                <a:latin typeface="Times New Roman" panose="02020603050405020304" pitchFamily="18" charset="0"/>
                <a:cs typeface="Times New Roman" panose="02020603050405020304" pitchFamily="18" charset="0"/>
              </a:rPr>
              <a:t>: Identifying top-performing regions, categories, and customers using SQL and Python.</a:t>
            </a:r>
          </a:p>
          <a:p>
            <a:pPr marL="342900" indent="-342900"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Customer Segmentation</a:t>
            </a:r>
            <a:r>
              <a:rPr lang="en-US" sz="2400" dirty="0">
                <a:latin typeface="Times New Roman" panose="02020603050405020304" pitchFamily="18" charset="0"/>
                <a:cs typeface="Times New Roman" panose="02020603050405020304" pitchFamily="18" charset="0"/>
              </a:rPr>
              <a:t>: Analyzing customer types and purchase patterns to uncover loyalty and spending behavior.</a:t>
            </a:r>
          </a:p>
          <a:p>
            <a:pPr marL="342900" indent="-342900"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Data Visualization</a:t>
            </a:r>
            <a:r>
              <a:rPr lang="en-US" sz="2400" dirty="0">
                <a:latin typeface="Times New Roman" panose="02020603050405020304" pitchFamily="18" charset="0"/>
                <a:cs typeface="Times New Roman" panose="02020603050405020304" pitchFamily="18" charset="0"/>
              </a:rPr>
              <a:t>: Creating charts and optional interactive dashboards for stakeholders using Matplotlib/Seaborn and Power BI.</a:t>
            </a:r>
          </a:p>
          <a:p>
            <a:pPr marL="342900" indent="-342900"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Business Recommendations</a:t>
            </a:r>
            <a:r>
              <a:rPr lang="en-US" sz="2400" dirty="0">
                <a:latin typeface="Times New Roman" panose="02020603050405020304" pitchFamily="18" charset="0"/>
                <a:cs typeface="Times New Roman" panose="02020603050405020304" pitchFamily="18" charset="0"/>
              </a:rPr>
              <a:t>: Delivering actionable strategies based on insights from the data.</a:t>
            </a:r>
          </a:p>
        </p:txBody>
      </p:sp>
      <p:sp>
        <p:nvSpPr>
          <p:cNvPr id="3" name="Rectangle 2"/>
          <p:cNvSpPr/>
          <p:nvPr/>
        </p:nvSpPr>
        <p:spPr>
          <a:xfrm>
            <a:off x="12142788" y="6229350"/>
            <a:ext cx="49213" cy="85725"/>
          </a:xfrm>
          <a:prstGeom prst="rect">
            <a:avLst/>
          </a:prstGeom>
        </p:spPr>
        <p:txBody>
          <a:bodyPr wrap="none" lIns="0" tIns="0" rIns="0" bIns="0">
            <a:no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650" b="0" i="0" u="none" strike="noStrike" kern="1200" cap="none" spc="0" normalizeH="0" baseline="0" noProof="0">
                <a:ln>
                  <a:noFill/>
                </a:ln>
                <a:solidFill>
                  <a:srgbClr val="898989"/>
                </a:solidFill>
                <a:effectLst/>
                <a:uLnTx/>
                <a:uFillTx/>
                <a:latin typeface="Cambria" panose="02040503050406030204"/>
                <a:ea typeface="+mn-ea"/>
                <a:cs typeface="+mn-cs"/>
              </a:rPr>
              <a:t>c</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686A03-51B0-4B7A-8AB5-1DFD295B563B}"/>
              </a:ext>
            </a:extLst>
          </p:cNvPr>
          <p:cNvSpPr txBox="1"/>
          <p:nvPr/>
        </p:nvSpPr>
        <p:spPr>
          <a:xfrm>
            <a:off x="794657" y="217714"/>
            <a:ext cx="10602685" cy="7725192"/>
          </a:xfrm>
          <a:prstGeom prst="rect">
            <a:avLst/>
          </a:prstGeom>
          <a:noFill/>
        </p:spPr>
        <p:txBody>
          <a:bodyPr wrap="square" rtlCol="0">
            <a:spAutoFit/>
          </a:bodyPr>
          <a:lstStyle/>
          <a:p>
            <a:r>
              <a:rPr lang="en-US" sz="3600" b="1" dirty="0">
                <a:solidFill>
                  <a:schemeClr val="accent4"/>
                </a:solidFill>
                <a:latin typeface="Times New Roman" panose="02020603050405020304" pitchFamily="18" charset="0"/>
                <a:cs typeface="Times New Roman" panose="02020603050405020304" pitchFamily="18" charset="0"/>
              </a:rPr>
              <a:t>Existing System:-</a:t>
            </a:r>
          </a:p>
          <a:p>
            <a:endParaRPr lang="en-US" sz="2800" b="1" dirty="0">
              <a:solidFill>
                <a:schemeClr val="accent6">
                  <a:lumMod val="75000"/>
                </a:schemeClr>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existing retail setup, reports are often generated manually or through basic spreadsheet summaries.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process lacks interactivity, scalability, and in-depth insights. Data is scattered across different tools without integration for comprehensive analysis.</a:t>
            </a:r>
          </a:p>
          <a:p>
            <a:endParaRPr lang="en-US" sz="2400" dirty="0">
              <a:latin typeface="Times New Roman" panose="02020603050405020304" pitchFamily="18" charset="0"/>
              <a:cs typeface="Times New Roman" panose="02020603050405020304" pitchFamily="18" charset="0"/>
            </a:endParaRPr>
          </a:p>
          <a:p>
            <a:r>
              <a:rPr lang="en-US" sz="3600" b="1" dirty="0">
                <a:solidFill>
                  <a:schemeClr val="accent4"/>
                </a:solidFill>
                <a:latin typeface="Times New Roman" panose="02020603050405020304" pitchFamily="18" charset="0"/>
                <a:cs typeface="Times New Roman" panose="02020603050405020304" pitchFamily="18" charset="0"/>
              </a:rPr>
              <a:t>Limitations of Existing System:-</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Limited Automation: Manual report generation is time-consuming and error-prone.</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Lack of Visualization: No clear visual representation of trends or performance metrics.</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Poor Data Utilization: Large volumes of data go underutilized due to lack of analytics.</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 Predictive Capability: Cannot identify future trends or high-performing regions/customers.</a:t>
            </a:r>
            <a:br>
              <a:rPr lang="en-US" sz="2800" dirty="0"/>
            </a:br>
            <a:endParaRPr lang="en-US" sz="2800" dirty="0"/>
          </a:p>
          <a:p>
            <a:br>
              <a:rPr lang="en-US" sz="2800" dirty="0"/>
            </a:br>
            <a:endParaRPr lang="en-IN" sz="28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2637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580118" y="379865"/>
            <a:ext cx="10697482" cy="5182734"/>
          </a:xfrm>
          <a:prstGeom prst="rect">
            <a:avLst/>
          </a:prstGeom>
        </p:spPr>
        <p:txBody>
          <a:bodyPr lIns="0" tIns="0" rIns="0" bIns="0">
            <a:noAutofit/>
          </a:bodyPr>
          <a:lstStyle/>
          <a:p>
            <a:pPr marL="0" marR="0" lvl="0" indent="0" algn="l" defTabSz="914400" rtl="0" eaLnBrk="1" fontAlgn="auto" latinLnBrk="0" hangingPunct="1">
              <a:lnSpc>
                <a:spcPct val="100000"/>
              </a:lnSpc>
              <a:spcBef>
                <a:spcPts val="4830"/>
              </a:spcBef>
              <a:spcAft>
                <a:spcPts val="2520"/>
              </a:spcAft>
              <a:buClrTx/>
              <a:buSzTx/>
              <a:buFontTx/>
              <a:buNone/>
              <a:defRPr/>
            </a:pPr>
            <a:r>
              <a:rPr kumimoji="0" lang="en-US" sz="3600" b="1" i="0" u="none" strike="noStrike" kern="1200" cap="none" spc="0" normalizeH="0" baseline="0" noProof="0" dirty="0">
                <a:ln>
                  <a:noFill/>
                </a:ln>
                <a:solidFill>
                  <a:schemeClr val="accent4"/>
                </a:solidFill>
                <a:effectLst/>
                <a:uLnTx/>
                <a:uFillTx/>
                <a:latin typeface="Times New Roman" panose="02020603050405020304"/>
                <a:ea typeface="+mn-ea"/>
                <a:cs typeface="+mn-cs"/>
              </a:rPr>
              <a:t>Problem Statement</a:t>
            </a:r>
          </a:p>
          <a:p>
            <a:pPr marL="571500" indent="-571500" algn="just" eaLnBrk="1" fontAlgn="auto" hangingPunct="1">
              <a:lnSpc>
                <a:spcPts val="4295"/>
              </a:lnSpc>
              <a:spcBef>
                <a:spcPts val="0"/>
              </a:spcBef>
              <a:spcAft>
                <a:spcPts val="0"/>
              </a:spcAft>
              <a:defRPr/>
            </a:pPr>
            <a:r>
              <a:rPr lang="en-US" sz="2400" dirty="0">
                <a:latin typeface="Times New Roman" panose="02020603050405020304"/>
              </a:rPr>
              <a:t>       Retail businesses often generate large volumes of transactional data but struggle to derive meaningful insights due to the lack of integrated analytical tools and process. The absence of automated systems for analyzing sales, profit margins, regional performance, and customer behavior limits a company’s ability to make informed, data-driven decisions.</a:t>
            </a:r>
          </a:p>
          <a:p>
            <a:pPr marL="571500" indent="-571500" algn="just" eaLnBrk="1" fontAlgn="auto" hangingPunct="1">
              <a:lnSpc>
                <a:spcPts val="4295"/>
              </a:lnSpc>
              <a:spcBef>
                <a:spcPts val="0"/>
              </a:spcBef>
              <a:spcAft>
                <a:spcPts val="0"/>
              </a:spcAft>
              <a:defRPr/>
            </a:pPr>
            <a:r>
              <a:rPr lang="en-US" sz="2400" dirty="0">
                <a:latin typeface="Times New Roman" panose="02020603050405020304"/>
              </a:rPr>
              <a:t>       						The core problem is the inefficient use of sales data—leading to missed opportunities in market targeting, product optimization, discount strategies, and customer retention.</a:t>
            </a:r>
          </a:p>
        </p:txBody>
      </p:sp>
      <p:sp>
        <p:nvSpPr>
          <p:cNvPr id="4" name="Rectangle 3"/>
          <p:cNvSpPr/>
          <p:nvPr/>
        </p:nvSpPr>
        <p:spPr>
          <a:xfrm>
            <a:off x="12136438" y="6229350"/>
            <a:ext cx="55563" cy="98425"/>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650" b="0" i="0" u="none" strike="noStrike" kern="1200" cap="none" spc="0" normalizeH="0" baseline="0" noProof="0">
                <a:ln>
                  <a:noFill/>
                </a:ln>
                <a:solidFill>
                  <a:srgbClr val="898989"/>
                </a:solidFill>
                <a:effectLst/>
                <a:uLnTx/>
                <a:uFillTx/>
                <a:latin typeface="Cambria" panose="02040503050406030204"/>
                <a:ea typeface="+mn-ea"/>
                <a:cs typeface="+mn-cs"/>
              </a:rPr>
              <a:t>C</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0CC78A-6216-4266-B7DA-9BE364F73A2A}"/>
              </a:ext>
            </a:extLst>
          </p:cNvPr>
          <p:cNvSpPr txBox="1"/>
          <p:nvPr/>
        </p:nvSpPr>
        <p:spPr>
          <a:xfrm>
            <a:off x="772886" y="827314"/>
            <a:ext cx="10047514" cy="4770537"/>
          </a:xfrm>
          <a:prstGeom prst="rect">
            <a:avLst/>
          </a:prstGeom>
          <a:noFill/>
        </p:spPr>
        <p:txBody>
          <a:bodyPr wrap="square" rtlCol="0">
            <a:spAutoFit/>
          </a:bodyPr>
          <a:lstStyle/>
          <a:p>
            <a:r>
              <a:rPr lang="en-US" sz="3600" b="1" dirty="0">
                <a:solidFill>
                  <a:schemeClr val="accent4"/>
                </a:solidFill>
                <a:latin typeface="Times New Roman" panose="02020603050405020304" pitchFamily="18" charset="0"/>
                <a:cs typeface="Times New Roman" panose="02020603050405020304" pitchFamily="18" charset="0"/>
              </a:rPr>
              <a:t>Proposed System:-</a:t>
            </a:r>
          </a:p>
          <a:p>
            <a:endParaRPr lang="en-US" sz="2800" b="1"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proposed system is a data-driven analytics framework designed to process, analyze, and visualize retail sales data for improved business decision-making. It addresses the inefficiencies of manual reporting by implementing an automated, structured workflow. </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ultimately delivers actionable insights into product category performance, discount impact, and top customer behavior. Designed for scalability and reproducibility, the solution empowers businesses to transition from reactive decisions to proactive, insight-driven strategies using modern business intelligence techniques.</a:t>
            </a:r>
          </a:p>
        </p:txBody>
      </p:sp>
    </p:spTree>
    <p:extLst>
      <p:ext uri="{BB962C8B-B14F-4D97-AF65-F5344CB8AC3E}">
        <p14:creationId xmlns:p14="http://schemas.microsoft.com/office/powerpoint/2010/main" val="52825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
          <p:cNvSpPr/>
          <p:nvPr/>
        </p:nvSpPr>
        <p:spPr>
          <a:xfrm>
            <a:off x="952046" y="509134"/>
            <a:ext cx="7435850" cy="490537"/>
          </a:xfrm>
          <a:prstGeom prst="rect">
            <a:avLst/>
          </a:prstGeom>
          <a:noFill/>
          <a:ln w="9525">
            <a:noFill/>
          </a:ln>
        </p:spPr>
        <p:txBody>
          <a:bodyPr wrap="none" lIns="0" tIns="0" rIns="0" bIns="0"/>
          <a:lstStyle/>
          <a:p>
            <a:pPr eaLnBrk="1" hangingPunct="1">
              <a:buNone/>
            </a:pPr>
            <a:r>
              <a:rPr sz="3600" b="1" dirty="0">
                <a:solidFill>
                  <a:schemeClr val="accent4"/>
                </a:solidFill>
                <a:latin typeface="Times New Roman" panose="02020603050405020304" pitchFamily="18" charset="0"/>
              </a:rPr>
              <a:t>System Requirement Specification</a:t>
            </a:r>
          </a:p>
        </p:txBody>
      </p:sp>
      <p:sp>
        <p:nvSpPr>
          <p:cNvPr id="4" name="Rectangle 3"/>
          <p:cNvSpPr/>
          <p:nvPr/>
        </p:nvSpPr>
        <p:spPr>
          <a:xfrm>
            <a:off x="12066588" y="6229350"/>
            <a:ext cx="125413" cy="134938"/>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50" b="0" i="1" u="none" strike="noStrike" kern="1200" cap="none" spc="0" normalizeH="0" baseline="0" noProof="0">
                <a:ln>
                  <a:noFill/>
                </a:ln>
                <a:solidFill>
                  <a:srgbClr val="898989"/>
                </a:solidFill>
                <a:effectLst/>
                <a:uLnTx/>
                <a:uFillTx/>
                <a:latin typeface="Times New Roman" panose="02020603050405020304"/>
                <a:ea typeface="+mn-ea"/>
                <a:cs typeface="+mn-cs"/>
              </a:rPr>
              <a:t>11</a:t>
            </a:r>
          </a:p>
        </p:txBody>
      </p:sp>
      <p:sp>
        <p:nvSpPr>
          <p:cNvPr id="3" name="TextBox 2">
            <a:extLst>
              <a:ext uri="{FF2B5EF4-FFF2-40B4-BE49-F238E27FC236}">
                <a16:creationId xmlns:a16="http://schemas.microsoft.com/office/drawing/2014/main" id="{25D05502-309D-4372-A77A-6F4AE5E24619}"/>
              </a:ext>
            </a:extLst>
          </p:cNvPr>
          <p:cNvSpPr txBox="1"/>
          <p:nvPr/>
        </p:nvSpPr>
        <p:spPr>
          <a:xfrm>
            <a:off x="1055688" y="1378176"/>
            <a:ext cx="7876268" cy="526297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Hardware Requirements</a:t>
            </a:r>
          </a:p>
          <a:p>
            <a:endParaRPr lang="en-IN" sz="24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i5 or equivalent (minimum)</a:t>
            </a: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 4 GB (8 GB recommended)</a:t>
            </a: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2 GB of free disk space for data and logs</a:t>
            </a: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 / Linux / macOS</a:t>
            </a:r>
          </a:p>
          <a:p>
            <a:pPr lvl="1"/>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Software Requirements</a:t>
            </a:r>
          </a:p>
          <a:p>
            <a:endParaRPr lang="en-IN" sz="24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Python 3.x</a:t>
            </a:r>
            <a:r>
              <a:rPr lang="en-IN" sz="2400" dirty="0">
                <a:latin typeface="Times New Roman" panose="02020603050405020304" pitchFamily="18" charset="0"/>
                <a:cs typeface="Times New Roman" panose="02020603050405020304" pitchFamily="18" charset="0"/>
              </a:rPr>
              <a:t> (with Pandas, Matplotlib, Seaborn,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a:t>
            </a: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MySQL / Any Relational DBMS</a:t>
            </a:r>
            <a:endParaRPr lang="en-IN" sz="24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Power BI / Tableau (optional for dashboarding)</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298451"/>
            <a:ext cx="10972800" cy="6065837"/>
          </a:xfrm>
          <a:prstGeom prst="rect">
            <a:avLst/>
          </a:prstGeom>
        </p:spPr>
        <p:txBody>
          <a:bodyPr lIns="0" tIns="0" rIns="0" bIns="0">
            <a:noAutofit/>
          </a:bodyPr>
          <a:lstStyle/>
          <a:p>
            <a:pPr marL="152400" marR="0" lvl="0" indent="0" algn="l" defTabSz="914400" rtl="0" eaLnBrk="1" fontAlgn="auto" latinLnBrk="0" hangingPunct="1">
              <a:lnSpc>
                <a:spcPct val="100000"/>
              </a:lnSpc>
              <a:spcBef>
                <a:spcPts val="0"/>
              </a:spcBef>
              <a:spcAft>
                <a:spcPts val="2520"/>
              </a:spcAft>
              <a:buClrTx/>
              <a:buSzTx/>
              <a:buFontTx/>
              <a:buNone/>
              <a:defRPr/>
            </a:pPr>
            <a:r>
              <a:rPr kumimoji="0" lang="en-US" sz="3600" b="1" i="0" u="none" strike="noStrike" kern="1200" cap="none" spc="0" normalizeH="0" baseline="0" noProof="0" dirty="0">
                <a:ln>
                  <a:noFill/>
                </a:ln>
                <a:solidFill>
                  <a:schemeClr val="accent4"/>
                </a:solidFill>
                <a:effectLst/>
                <a:uLnTx/>
                <a:uFillTx/>
                <a:latin typeface="Times New Roman" panose="02020603050405020304"/>
                <a:ea typeface="+mn-ea"/>
                <a:cs typeface="+mn-cs"/>
              </a:rPr>
              <a:t>Implementation</a:t>
            </a:r>
          </a:p>
          <a:p>
            <a:pPr lvl="0" eaLnBrk="1" fontAlgn="auto" hangingPunct="1">
              <a:lnSpc>
                <a:spcPts val="2950"/>
              </a:lnSpc>
              <a:spcBef>
                <a:spcPts val="0"/>
              </a:spcBef>
              <a:spcAft>
                <a:spcPts val="420"/>
              </a:spcAft>
              <a:defRPr/>
            </a:pPr>
            <a:r>
              <a:rPr lang="en-US" sz="2400" dirty="0">
                <a:solidFill>
                  <a:srgbClr val="384150"/>
                </a:solidFill>
                <a:latin typeface="Times New Roman" panose="02020603050405020304" pitchFamily="18" charset="0"/>
                <a:cs typeface="Times New Roman" panose="02020603050405020304" pitchFamily="18" charset="0"/>
              </a:rPr>
              <a:t> </a:t>
            </a:r>
            <a:endParaRPr kumimoji="0" lang="en-US" sz="2400" b="0" i="0" u="none" strike="noStrike" kern="1200" cap="none" spc="0" normalizeH="0" baseline="0" noProof="0" dirty="0">
              <a:ln>
                <a:noFill/>
              </a:ln>
              <a:solidFill>
                <a:srgbClr val="38415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ts val="2950"/>
              </a:lnSpc>
              <a:spcBef>
                <a:spcPts val="0"/>
              </a:spcBef>
              <a:spcAft>
                <a:spcPts val="420"/>
              </a:spcAft>
              <a:buClrTx/>
              <a:buSzTx/>
              <a:buFontTx/>
              <a:buNone/>
              <a:defRPr/>
            </a:pPr>
            <a:endParaRPr kumimoji="0" lang="en-US" sz="2400" b="0" i="0" u="none" strike="noStrike" kern="1200" cap="none" spc="0" normalizeH="0" baseline="0" noProof="0" dirty="0">
              <a:ln>
                <a:noFill/>
              </a:ln>
              <a:solidFill>
                <a:srgbClr val="384150"/>
              </a:solidFill>
              <a:effectLst/>
              <a:uLnTx/>
              <a:uFillTx/>
              <a:latin typeface="Times New Roman" panose="02020603050405020304"/>
              <a:ea typeface="+mn-ea"/>
              <a:cs typeface="+mn-cs"/>
            </a:endParaRPr>
          </a:p>
        </p:txBody>
      </p:sp>
      <p:sp>
        <p:nvSpPr>
          <p:cNvPr id="19459" name="Rectangle 2"/>
          <p:cNvSpPr/>
          <p:nvPr/>
        </p:nvSpPr>
        <p:spPr>
          <a:xfrm>
            <a:off x="12066588" y="6229350"/>
            <a:ext cx="125412" cy="134938"/>
          </a:xfrm>
          <a:prstGeom prst="rect">
            <a:avLst/>
          </a:prstGeom>
          <a:noFill/>
          <a:ln w="9525">
            <a:noFill/>
          </a:ln>
        </p:spPr>
        <p:txBody>
          <a:bodyPr wrap="none" lIns="0" tIns="0" rIns="0" bIns="0"/>
          <a:lstStyle/>
          <a:p>
            <a:pPr eaLnBrk="1" hangingPunct="1">
              <a:buNone/>
            </a:pPr>
            <a:r>
              <a:rPr sz="1000" b="1" dirty="0">
                <a:solidFill>
                  <a:srgbClr val="898989"/>
                </a:solidFill>
                <a:latin typeface="Tahoma" panose="020B0604030504040204" pitchFamily="34" charset="0"/>
              </a:rPr>
              <a:t>17</a:t>
            </a:r>
          </a:p>
        </p:txBody>
      </p:sp>
      <p:sp>
        <p:nvSpPr>
          <p:cNvPr id="5" name="TextBox 4">
            <a:extLst>
              <a:ext uri="{FF2B5EF4-FFF2-40B4-BE49-F238E27FC236}">
                <a16:creationId xmlns:a16="http://schemas.microsoft.com/office/drawing/2014/main" id="{4D1872E4-DAE7-4916-8AD8-0B8D90746942}"/>
              </a:ext>
            </a:extLst>
          </p:cNvPr>
          <p:cNvSpPr txBox="1"/>
          <p:nvPr/>
        </p:nvSpPr>
        <p:spPr>
          <a:xfrm>
            <a:off x="979714" y="1382486"/>
            <a:ext cx="9775372" cy="4524315"/>
          </a:xfrm>
          <a:prstGeom prst="rect">
            <a:avLst/>
          </a:prstGeom>
          <a:noFill/>
        </p:spPr>
        <p:txBody>
          <a:bodyPr wrap="square" rtlCol="0">
            <a:spAutoFit/>
          </a:bodyPr>
          <a:lstStyle/>
          <a:p>
            <a:pPr marL="457200" indent="-457200">
              <a:buFont typeface="+mj-lt"/>
              <a:buAutoNum type="arabicParenR"/>
            </a:pPr>
            <a:r>
              <a:rPr lang="en-US" sz="2400" b="1" dirty="0">
                <a:latin typeface="Times New Roman" panose="02020603050405020304" pitchFamily="18" charset="0"/>
                <a:cs typeface="Times New Roman" panose="02020603050405020304" pitchFamily="18" charset="0"/>
              </a:rPr>
              <a:t>Data Cleaning: </a:t>
            </a:r>
            <a:r>
              <a:rPr lang="en-US" sz="2400" dirty="0">
                <a:latin typeface="Times New Roman" panose="02020603050405020304" pitchFamily="18" charset="0"/>
                <a:cs typeface="Times New Roman" panose="02020603050405020304" pitchFamily="18" charset="0"/>
              </a:rPr>
              <a:t>Imported superstore.csv into Python (Pandas) to remove missing values, correct data types, and drop duplicates.</a:t>
            </a:r>
          </a:p>
          <a:p>
            <a:pPr marL="457200" indent="-457200">
              <a:buFont typeface="+mj-lt"/>
              <a:buAutoNum type="arabicParenR"/>
            </a:pPr>
            <a:r>
              <a:rPr lang="en-US" sz="2400" b="1" dirty="0">
                <a:latin typeface="Times New Roman" panose="02020603050405020304" pitchFamily="18" charset="0"/>
                <a:cs typeface="Times New Roman" panose="02020603050405020304" pitchFamily="18" charset="0"/>
              </a:rPr>
              <a:t>Database Integration: </a:t>
            </a:r>
            <a:r>
              <a:rPr lang="en-US" sz="2400" dirty="0">
                <a:latin typeface="Times New Roman" panose="02020603050405020304" pitchFamily="18" charset="0"/>
                <a:cs typeface="Times New Roman" panose="02020603050405020304" pitchFamily="18" charset="0"/>
              </a:rPr>
              <a:t>Designed a relational schema and imported cleaned data into MySQL, creating structured tables with keys.</a:t>
            </a:r>
          </a:p>
          <a:p>
            <a:pPr marL="457200" indent="-457200">
              <a:buFont typeface="+mj-lt"/>
              <a:buAutoNum type="arabicParenR"/>
            </a:pPr>
            <a:r>
              <a:rPr lang="en-US" sz="2400" b="1" dirty="0">
                <a:latin typeface="Times New Roman" panose="02020603050405020304" pitchFamily="18" charset="0"/>
                <a:cs typeface="Times New Roman" panose="02020603050405020304" pitchFamily="18" charset="0"/>
              </a:rPr>
              <a:t>SQL Analysis</a:t>
            </a:r>
            <a:r>
              <a:rPr lang="en-US" sz="2400" dirty="0">
                <a:latin typeface="Times New Roman" panose="02020603050405020304" pitchFamily="18" charset="0"/>
                <a:cs typeface="Times New Roman" panose="02020603050405020304" pitchFamily="18" charset="0"/>
              </a:rPr>
              <a:t>: Executed queries to analyze sales, profit, and discounts by region, category, and customer segment using GROUP BY, JOIN, and ORDER BY.</a:t>
            </a:r>
          </a:p>
          <a:p>
            <a:pPr marL="457200" indent="-457200">
              <a:buFont typeface="+mj-lt"/>
              <a:buAutoNum type="arabicParenR"/>
            </a:pPr>
            <a:r>
              <a:rPr lang="en-US" sz="2400" b="1" dirty="0">
                <a:latin typeface="Times New Roman" panose="02020603050405020304" pitchFamily="18" charset="0"/>
                <a:cs typeface="Times New Roman" panose="02020603050405020304" pitchFamily="18" charset="0"/>
              </a:rPr>
              <a:t>Visualization: </a:t>
            </a:r>
            <a:r>
              <a:rPr lang="en-US" sz="2400" dirty="0">
                <a:latin typeface="Times New Roman" panose="02020603050405020304" pitchFamily="18" charset="0"/>
                <a:cs typeface="Times New Roman" panose="02020603050405020304" pitchFamily="18" charset="0"/>
              </a:rPr>
              <a:t>Used Matplotlib and Seaborn to create bar charts, line plots, and KPI visuals. Optionally connected to Power BI for interactive dashboards.</a:t>
            </a:r>
          </a:p>
          <a:p>
            <a:pPr marL="457200" indent="-457200">
              <a:buFont typeface="+mj-lt"/>
              <a:buAutoNum type="arabicParenR"/>
            </a:pPr>
            <a:r>
              <a:rPr lang="en-US" sz="2400" b="1" dirty="0">
                <a:latin typeface="Times New Roman" panose="02020603050405020304" pitchFamily="18" charset="0"/>
                <a:cs typeface="Times New Roman" panose="02020603050405020304" pitchFamily="18" charset="0"/>
              </a:rPr>
              <a:t>Reporting: </a:t>
            </a:r>
            <a:r>
              <a:rPr lang="en-US" sz="2400" dirty="0">
                <a:latin typeface="Times New Roman" panose="02020603050405020304" pitchFamily="18" charset="0"/>
                <a:cs typeface="Times New Roman" panose="02020603050405020304" pitchFamily="18" charset="0"/>
              </a:rPr>
              <a:t>Generated summary outputs, charts, and business recommendations to support data-driven decisions.</a:t>
            </a:r>
            <a:endParaRPr lang="en-IN" sz="24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6E97B7-1CEE-48B5-97D9-122B556E5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6414" y="390071"/>
            <a:ext cx="9116786" cy="6077858"/>
          </a:xfrm>
          <a:prstGeom prst="rect">
            <a:avLst/>
          </a:prstGeom>
        </p:spPr>
      </p:pic>
    </p:spTree>
    <p:extLst>
      <p:ext uri="{BB962C8B-B14F-4D97-AF65-F5344CB8AC3E}">
        <p14:creationId xmlns:p14="http://schemas.microsoft.com/office/powerpoint/2010/main" val="866292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9744D8-9920-46A1-8EBC-ABE07E40B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428" y="1331344"/>
            <a:ext cx="9546771" cy="52980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a:extLst>
              <a:ext uri="{FF2B5EF4-FFF2-40B4-BE49-F238E27FC236}">
                <a16:creationId xmlns:a16="http://schemas.microsoft.com/office/drawing/2014/main" id="{C2BAAB41-052D-4D93-964B-7620D4F30137}"/>
              </a:ext>
            </a:extLst>
          </p:cNvPr>
          <p:cNvSpPr txBox="1"/>
          <p:nvPr/>
        </p:nvSpPr>
        <p:spPr>
          <a:xfrm>
            <a:off x="1197428" y="435428"/>
            <a:ext cx="5094515" cy="646331"/>
          </a:xfrm>
          <a:prstGeom prst="rect">
            <a:avLst/>
          </a:prstGeom>
          <a:noFill/>
        </p:spPr>
        <p:txBody>
          <a:bodyPr wrap="square" rtlCol="0">
            <a:spAutoFit/>
          </a:bodyPr>
          <a:lstStyle/>
          <a:p>
            <a:r>
              <a:rPr lang="en-US" sz="3600" b="1" dirty="0">
                <a:solidFill>
                  <a:schemeClr val="accent4"/>
                </a:solidFill>
                <a:latin typeface="Times New Roman" panose="02020603050405020304" pitchFamily="18" charset="0"/>
                <a:cs typeface="Times New Roman" panose="02020603050405020304" pitchFamily="18" charset="0"/>
              </a:rPr>
              <a:t>OUTPUT</a:t>
            </a:r>
            <a:endParaRPr lang="en-IN" sz="3600" b="1"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947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p:cNvSpPr/>
          <p:nvPr/>
        </p:nvSpPr>
        <p:spPr>
          <a:xfrm>
            <a:off x="752475" y="509134"/>
            <a:ext cx="2428875" cy="387350"/>
          </a:xfrm>
          <a:prstGeom prst="rect">
            <a:avLst/>
          </a:prstGeom>
          <a:noFill/>
          <a:ln w="9525">
            <a:noFill/>
          </a:ln>
        </p:spPr>
        <p:txBody>
          <a:bodyPr wrap="none" lIns="0" tIns="0" rIns="0" bIns="0"/>
          <a:lstStyle/>
          <a:p>
            <a:pPr eaLnBrk="1" hangingPunct="1">
              <a:buNone/>
            </a:pPr>
            <a:r>
              <a:rPr sz="3600" b="1" dirty="0">
                <a:solidFill>
                  <a:schemeClr val="accent4"/>
                </a:solidFill>
                <a:latin typeface="Times New Roman" panose="02020603050405020304" pitchFamily="18" charset="0"/>
              </a:rPr>
              <a:t>Conclusion</a:t>
            </a:r>
            <a:endParaRPr sz="4000" b="1" dirty="0">
              <a:solidFill>
                <a:schemeClr val="accent4"/>
              </a:solidFill>
              <a:latin typeface="Times New Roman" panose="02020603050405020304" pitchFamily="18" charset="0"/>
            </a:endParaRPr>
          </a:p>
        </p:txBody>
      </p:sp>
      <p:sp>
        <p:nvSpPr>
          <p:cNvPr id="23555" name="Rectangle 2"/>
          <p:cNvSpPr/>
          <p:nvPr/>
        </p:nvSpPr>
        <p:spPr>
          <a:xfrm>
            <a:off x="839561" y="1654629"/>
            <a:ext cx="10760075" cy="4484914"/>
          </a:xfrm>
          <a:prstGeom prst="rect">
            <a:avLst/>
          </a:prstGeom>
          <a:noFill/>
          <a:ln w="9525">
            <a:noFill/>
          </a:ln>
        </p:spPr>
        <p:txBody>
          <a:bodyPr lIns="0" tIns="0" rIns="0" bIns="0"/>
          <a:lstStyle/>
          <a:p>
            <a:pPr marL="357505" indent="-342900" algn="just" eaLnBrk="1" hangingPunct="1">
              <a:lnSpc>
                <a:spcPts val="2975"/>
              </a:lnSpc>
              <a:buFont typeface="Arial" panose="020B0604020202020204" pitchFamily="34" charset="0"/>
              <a:buChar char="•"/>
            </a:pPr>
            <a:r>
              <a:rPr lang="en-US" sz="2400" dirty="0">
                <a:latin typeface="Times New Roman" panose="02020603050405020304" pitchFamily="18" charset="0"/>
              </a:rPr>
              <a:t>The Superstore Sales Data Analysis project demonstrates how data analytics can transform raw retail data into actionable business insights.</a:t>
            </a:r>
          </a:p>
          <a:p>
            <a:pPr marL="357505" indent="-342900" algn="just" eaLnBrk="1" hangingPunct="1">
              <a:lnSpc>
                <a:spcPts val="2975"/>
              </a:lnSpc>
              <a:buFont typeface="Arial" panose="020B0604020202020204" pitchFamily="34" charset="0"/>
              <a:buChar char="•"/>
            </a:pPr>
            <a:r>
              <a:rPr lang="en-US" sz="2400" dirty="0">
                <a:latin typeface="Times New Roman" panose="02020603050405020304" pitchFamily="18" charset="0"/>
              </a:rPr>
              <a:t>By integrating Python, SQL, and visualization tools, the system effectively identifies trends in sales, profit, customer behavior, and regional performance.</a:t>
            </a:r>
          </a:p>
          <a:p>
            <a:pPr marL="357505" indent="-342900" algn="just" eaLnBrk="1" hangingPunct="1">
              <a:lnSpc>
                <a:spcPts val="2975"/>
              </a:lnSpc>
              <a:buFont typeface="Arial" panose="020B0604020202020204" pitchFamily="34" charset="0"/>
              <a:buChar char="•"/>
            </a:pPr>
            <a:r>
              <a:rPr lang="en-US" sz="2400" dirty="0">
                <a:latin typeface="Times New Roman" panose="02020603050405020304" pitchFamily="18" charset="0"/>
              </a:rPr>
              <a:t>The analysis highlighted key findings, such as the dominance of the West region, the high profitability of Technology and Office Supplies, and the negative impact of deep discounts, especially in the Furniture category.</a:t>
            </a:r>
          </a:p>
          <a:p>
            <a:pPr marL="357505" indent="-342900" algn="just" eaLnBrk="1" hangingPunct="1">
              <a:lnSpc>
                <a:spcPts val="2975"/>
              </a:lnSpc>
              <a:buFont typeface="Arial" panose="020B0604020202020204" pitchFamily="34" charset="0"/>
              <a:buChar char="•"/>
            </a:pPr>
            <a:r>
              <a:rPr lang="en-US" sz="2400" dirty="0">
                <a:latin typeface="Times New Roman" panose="02020603050405020304" pitchFamily="18" charset="0"/>
              </a:rPr>
              <a:t>The proposed system is scalable, modular, and suited for real-world business applications.</a:t>
            </a:r>
          </a:p>
          <a:p>
            <a:pPr marL="357505" indent="-342900" algn="just" eaLnBrk="1" hangingPunct="1">
              <a:lnSpc>
                <a:spcPts val="2975"/>
              </a:lnSpc>
              <a:buFont typeface="Arial" panose="020B0604020202020204" pitchFamily="34" charset="0"/>
              <a:buChar char="•"/>
            </a:pPr>
            <a:r>
              <a:rPr lang="en-US" sz="2400" dirty="0">
                <a:latin typeface="Times New Roman" panose="02020603050405020304" pitchFamily="18" charset="0"/>
              </a:rPr>
              <a:t>These insights empower the organization to make data-driven decisions, optimize operations, and improve customer engagement and profitability.</a:t>
            </a:r>
            <a:endParaRPr sz="2400" dirty="0">
              <a:solidFill>
                <a:srgbClr val="384150"/>
              </a:solidFill>
              <a:latin typeface="Times New Roman" panose="02020603050405020304" pitchFamily="18" charset="0"/>
            </a:endParaRPr>
          </a:p>
        </p:txBody>
      </p:sp>
      <p:sp>
        <p:nvSpPr>
          <p:cNvPr id="4" name="Rectangle 3"/>
          <p:cNvSpPr/>
          <p:nvPr/>
        </p:nvSpPr>
        <p:spPr>
          <a:xfrm>
            <a:off x="12063413" y="6229350"/>
            <a:ext cx="128588" cy="134938"/>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50" b="0" i="1" u="none" strike="noStrike" kern="1200" cap="none" spc="0" normalizeH="0" baseline="0" noProof="0">
                <a:ln>
                  <a:noFill/>
                </a:ln>
                <a:solidFill>
                  <a:srgbClr val="898989"/>
                </a:solidFill>
                <a:effectLst/>
                <a:uLnTx/>
                <a:uFillTx/>
                <a:latin typeface="Times New Roman" panose="02020603050405020304"/>
                <a:ea typeface="+mn-ea"/>
                <a:cs typeface="+mn-cs"/>
              </a:rPr>
              <a:t>21</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C645F0-80FE-40C8-B4FD-1A4B224220C0}"/>
              </a:ext>
            </a:extLst>
          </p:cNvPr>
          <p:cNvSpPr txBox="1"/>
          <p:nvPr/>
        </p:nvSpPr>
        <p:spPr>
          <a:xfrm>
            <a:off x="2329542" y="2921168"/>
            <a:ext cx="7881257" cy="1015663"/>
          </a:xfrm>
          <a:prstGeom prst="rect">
            <a:avLst/>
          </a:prstGeom>
          <a:noFill/>
        </p:spPr>
        <p:txBody>
          <a:bodyPr wrap="square" rtlCol="0">
            <a:spAutoFit/>
          </a:bodyPr>
          <a:lstStyle/>
          <a:p>
            <a:pPr algn="ctr"/>
            <a:r>
              <a:rPr lang="en-US" sz="6000" dirty="0">
                <a:latin typeface="Algerian" panose="04020705040A02060702" pitchFamily="82" charset="0"/>
                <a:cs typeface="Times New Roman" panose="02020603050405020304" pitchFamily="18" charset="0"/>
              </a:rPr>
              <a:t>Thank You…</a:t>
            </a:r>
            <a:endParaRPr lang="en-IN" sz="6000" dirty="0">
              <a:latin typeface="Algerian" panose="04020705040A02060702" pitchFamily="82"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186</TotalTime>
  <Words>867</Words>
  <Application>Microsoft Office PowerPoint</Application>
  <PresentationFormat>Widescreen</PresentationFormat>
  <Paragraphs>88</Paragraphs>
  <Slides>13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Algerian</vt:lpstr>
      <vt:lpstr>Arial</vt:lpstr>
      <vt:lpstr>Calibri</vt:lpstr>
      <vt:lpstr>Cambria</vt:lpstr>
      <vt:lpstr>Tahoma</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19</cp:revision>
  <dcterms:created xsi:type="dcterms:W3CDTF">2024-06-17T16:05:32Z</dcterms:created>
  <dcterms:modified xsi:type="dcterms:W3CDTF">2025-11-08T09:43:51Z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F53330C2FEBA431DB90B91A023A29D4E_12</vt:lpwstr>
  </property>
  <property fmtid="{D5CDD505-2E9C-101B-9397-08002B2CF9AE}" pid="3" name="KSOProductBuildVer">
    <vt:lpwstr>1033-12.2.0.17119</vt:lpwstr>
  </property>
</Properties>
</file>